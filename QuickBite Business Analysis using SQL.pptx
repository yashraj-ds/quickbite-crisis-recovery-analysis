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1924" y="7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Orders</c:v>
                </c:pt>
              </c:strCache>
            </c:strRef>
          </c:tx>
          <c:spPr>
            <a:solidFill>
              <a:srgbClr val="1B244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B244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Pre-Crisis
(Jan–May)</c:v>
                </c:pt>
                <c:pt idx="1">
                  <c:v>Crisis
(Jun–Sep)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110672</c:v>
                </c:pt>
                <c:pt idx="1">
                  <c:v>33441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5D-41A1-B7C6-EB99C6929A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Decline %</c:v>
                </c:pt>
              </c:strCache>
            </c:strRef>
          </c:tx>
          <c:spPr>
            <a:solidFill>
              <a:srgbClr val="F4633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Bengaluru</c:v>
                </c:pt>
                <c:pt idx="1">
                  <c:v>Mumbai</c:v>
                </c:pt>
                <c:pt idx="2">
                  <c:v>Ahmedabad</c:v>
                </c:pt>
                <c:pt idx="3">
                  <c:v>Delhi</c:v>
                </c:pt>
                <c:pt idx="4">
                  <c:v>Pune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70.23</c:v>
                </c:pt>
                <c:pt idx="1">
                  <c:v>70.180000000000007</c:v>
                </c:pt>
                <c:pt idx="2">
                  <c:v>69.89</c:v>
                </c:pt>
                <c:pt idx="3">
                  <c:v>69.81</c:v>
                </c:pt>
                <c:pt idx="4">
                  <c:v>69.81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5F-44DF-BC32-AF0910E7DF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</c:scaling>
        <c:delete val="0"/>
        <c:axPos val="b"/>
        <c:majorGridlines>
          <c:spPr>
            <a:ln w="6350" cap="flat">
              <a:solidFill>
                <a:srgbClr val="E5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Pre-Crisis</c:v>
                </c:pt>
              </c:strCache>
            </c:strRef>
          </c:tx>
          <c:spPr>
            <a:solidFill>
              <a:srgbClr val="1B2447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Pune</c:v>
                </c:pt>
                <c:pt idx="1">
                  <c:v>Delhi</c:v>
                </c:pt>
                <c:pt idx="2">
                  <c:v>Ahmedabad</c:v>
                </c:pt>
                <c:pt idx="3">
                  <c:v>Hyderabad</c:v>
                </c:pt>
                <c:pt idx="4">
                  <c:v>Mumbai</c:v>
                </c:pt>
                <c:pt idx="5">
                  <c:v>Chennai</c:v>
                </c:pt>
                <c:pt idx="6">
                  <c:v>Kolkata</c:v>
                </c:pt>
                <c:pt idx="7">
                  <c:v>Bengaluru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3.32</c:v>
                </c:pt>
                <c:pt idx="1">
                  <c:v>3.74</c:v>
                </c:pt>
                <c:pt idx="2">
                  <c:v>3.09</c:v>
                </c:pt>
                <c:pt idx="3">
                  <c:v>3.45</c:v>
                </c:pt>
                <c:pt idx="4">
                  <c:v>3.29</c:v>
                </c:pt>
                <c:pt idx="5">
                  <c:v>3.43</c:v>
                </c:pt>
                <c:pt idx="6">
                  <c:v>3.3</c:v>
                </c:pt>
                <c:pt idx="7">
                  <c:v>3.38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7D-4FE8-898D-F98651F8DC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Crisis</c:v>
                </c:pt>
              </c:strCache>
            </c:strRef>
          </c:tx>
          <c:spPr>
            <a:solidFill>
              <a:srgbClr val="F4633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Pune</c:v>
                </c:pt>
                <c:pt idx="1">
                  <c:v>Delhi</c:v>
                </c:pt>
                <c:pt idx="2">
                  <c:v>Ahmedabad</c:v>
                </c:pt>
                <c:pt idx="3">
                  <c:v>Hyderabad</c:v>
                </c:pt>
                <c:pt idx="4">
                  <c:v>Mumbai</c:v>
                </c:pt>
                <c:pt idx="5">
                  <c:v>Chennai</c:v>
                </c:pt>
                <c:pt idx="6">
                  <c:v>Kolkata</c:v>
                </c:pt>
                <c:pt idx="7">
                  <c:v>Bengaluru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6.31</c:v>
                </c:pt>
                <c:pt idx="1">
                  <c:v>6.34</c:v>
                </c:pt>
                <c:pt idx="2">
                  <c:v>6.64</c:v>
                </c:pt>
                <c:pt idx="3">
                  <c:v>6.92</c:v>
                </c:pt>
                <c:pt idx="4">
                  <c:v>6.93</c:v>
                </c:pt>
                <c:pt idx="5">
                  <c:v>7.04</c:v>
                </c:pt>
                <c:pt idx="6">
                  <c:v>7.14</c:v>
                </c:pt>
                <c:pt idx="7">
                  <c:v>7.19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7D-4FE8-898D-F98651F8DC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"/>
        </c:scaling>
        <c:delete val="0"/>
        <c:axPos val="b"/>
        <c:majorGridlines>
          <c:spPr>
            <a:ln w="6350" cap="flat">
              <a:solidFill>
                <a:srgbClr val="E5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Cancellation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Time (min)</c:v>
                </c:pt>
              </c:strCache>
            </c:strRef>
          </c:tx>
          <c:spPr>
            <a:solidFill>
              <a:srgbClr val="F463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Pre-Crisis</c:v>
                </c:pt>
                <c:pt idx="1">
                  <c:v>Crisis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39.53</c:v>
                </c:pt>
                <c:pt idx="1">
                  <c:v>60.12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BA-4FFF-9B58-E0E7783676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Expected Time (min)</c:v>
                </c:pt>
              </c:strCache>
            </c:strRef>
          </c:tx>
          <c:spPr>
            <a:solidFill>
              <a:srgbClr val="1B244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Pre-Crisis</c:v>
                </c:pt>
                <c:pt idx="1">
                  <c:v>Crisis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37.5</c:v>
                </c:pt>
                <c:pt idx="1">
                  <c:v>42.53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BA-4FFF-9B58-E0E7783676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Rating</c:v>
                </c:pt>
              </c:strCache>
            </c:strRef>
          </c:tx>
          <c:spPr>
            <a:ln w="38100" cap="flat">
              <a:solidFill>
                <a:srgbClr val="F463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633A"/>
              </a:solidFill>
              <a:ln w="9525" cap="flat">
                <a:solidFill>
                  <a:srgbClr val="F4633A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4.58</c:v>
                </c:pt>
                <c:pt idx="1">
                  <c:v>4.4000000000000004</c:v>
                </c:pt>
                <c:pt idx="2">
                  <c:v>4.74</c:v>
                </c:pt>
                <c:pt idx="3">
                  <c:v>4.29</c:v>
                </c:pt>
                <c:pt idx="4">
                  <c:v>4.49</c:v>
                </c:pt>
                <c:pt idx="5">
                  <c:v>2.58</c:v>
                </c:pt>
                <c:pt idx="6">
                  <c:v>2.69</c:v>
                </c:pt>
                <c:pt idx="7">
                  <c:v>2.4</c:v>
                </c:pt>
                <c:pt idx="8">
                  <c:v>2.31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DC-42A9-9258-5E9ACCB0C9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5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1B2447"/>
            </a:solidFill>
            <a:effectLst/>
          </c:spPr>
          <c:invertIfNegative val="0"/>
          <c:dLbls>
            <c:numFmt formatCode="\₹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Estimated
(Pre-Crisis pace)</c:v>
                </c:pt>
                <c:pt idx="1">
                  <c:v>Actual
(Crisis)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37620965</c:v>
                </c:pt>
                <c:pt idx="1">
                  <c:v>10940151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67-4603-93B0-D37E919E34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5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2612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6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691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QuickBite Express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Recovery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SQL-driven investigation into an 8-month order collapse, cancellation surge, and revenue crisis — and what the data reveals about the road to recovery.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709160"/>
            <a:ext cx="18288" cy="777240"/>
          </a:xfrm>
          <a:prstGeom prst="rect">
            <a:avLst/>
          </a:prstGeom>
          <a:solidFill>
            <a:srgbClr val="3A4478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4663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144K+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87552" y="5138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4709160"/>
            <a:ext cx="18288" cy="777240"/>
          </a:xfrm>
          <a:prstGeom prst="rect">
            <a:avLst/>
          </a:prstGeom>
          <a:solidFill>
            <a:srgbClr val="3A4478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4663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02152" y="5138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Order Decline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4709160"/>
            <a:ext cx="18288" cy="777240"/>
          </a:xfrm>
          <a:prstGeom prst="rect">
            <a:avLst/>
          </a:prstGeom>
          <a:solidFill>
            <a:srgbClr val="3A4478"/>
          </a:solidFill>
          <a:ln/>
        </p:spPr>
      </p:sp>
      <p:sp>
        <p:nvSpPr>
          <p:cNvPr id="13" name="Text 11"/>
          <p:cNvSpPr/>
          <p:nvPr/>
        </p:nvSpPr>
        <p:spPr>
          <a:xfrm>
            <a:off x="6016752" y="4663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16752" y="5138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66760" y="4709160"/>
            <a:ext cx="18288" cy="777240"/>
          </a:xfrm>
          <a:prstGeom prst="rect">
            <a:avLst/>
          </a:prstGeom>
          <a:solidFill>
            <a:srgbClr val="3A4478"/>
          </a:solidFill>
          <a:ln/>
        </p:spPr>
      </p:sp>
      <p:sp>
        <p:nvSpPr>
          <p:cNvPr id="16" name="Text 14"/>
          <p:cNvSpPr/>
          <p:nvPr/>
        </p:nvSpPr>
        <p:spPr>
          <a:xfrm>
            <a:off x="8531352" y="4663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31352" y="5138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18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Yashraj Sharma  |  AlphaAnalytics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EDEF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71" y="610271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297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Business Context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QuickBite Express is a food-delivery platform that experienced a sharp, unexplained decline in orders, ratings, and revenue over a nine-month window.</a:t>
            </a:r>
            <a:endParaRPr lang="en-US" sz="1500" dirty="0"/>
          </a:p>
          <a:p>
            <a:pPr marL="0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uses SQL as the primary analysis engine — from raw data modeling through referential-integrity checks to the final business insights — to diagnose exactly what happened, when, where, and to whom.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turn the Codebasics Business Recovery challenge dataset into a decision-ready story for leadership.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086600" y="1508760"/>
            <a:ext cx="4617720" cy="1170432"/>
          </a:xfrm>
          <a:prstGeom prst="roundRect">
            <a:avLst>
              <a:gd name="adj" fmla="val 7031"/>
            </a:avLst>
          </a:prstGeom>
          <a:solidFill>
            <a:srgbClr val="F3F4F8"/>
          </a:solidFill>
          <a:ln/>
        </p:spPr>
      </p:sp>
      <p:sp>
        <p:nvSpPr>
          <p:cNvPr id="7" name="Shape 4"/>
          <p:cNvSpPr/>
          <p:nvPr/>
        </p:nvSpPr>
        <p:spPr>
          <a:xfrm>
            <a:off x="7269480" y="17282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924" y="1851660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63840" y="1636776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validated data model across 7 fact/dimension tables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086600" y="2880360"/>
            <a:ext cx="4617720" cy="1170432"/>
          </a:xfrm>
          <a:prstGeom prst="roundRect">
            <a:avLst>
              <a:gd name="adj" fmla="val 7031"/>
            </a:avLst>
          </a:prstGeom>
          <a:solidFill>
            <a:srgbClr val="F3F4F8"/>
          </a:solidFill>
          <a:ln/>
        </p:spPr>
      </p:sp>
      <p:sp>
        <p:nvSpPr>
          <p:cNvPr id="11" name="Shape 7"/>
          <p:cNvSpPr/>
          <p:nvPr/>
        </p:nvSpPr>
        <p:spPr>
          <a:xfrm>
            <a:off x="7269480" y="30998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924" y="3223260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63840" y="3008376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primary business questions answered end-to-end in SQL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086600" y="4251960"/>
            <a:ext cx="4617720" cy="1170432"/>
          </a:xfrm>
          <a:prstGeom prst="roundRect">
            <a:avLst>
              <a:gd name="adj" fmla="val 7031"/>
            </a:avLst>
          </a:prstGeom>
          <a:solidFill>
            <a:srgbClr val="F3F4F8"/>
          </a:solidFill>
          <a:ln/>
        </p:spPr>
      </p:sp>
      <p:sp>
        <p:nvSpPr>
          <p:cNvPr id="15" name="Shape 10"/>
          <p:cNvSpPr/>
          <p:nvPr/>
        </p:nvSpPr>
        <p:spPr>
          <a:xfrm>
            <a:off x="7269480" y="44714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2924" y="4594860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63840" y="4379976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 grounded in the numbers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EDEF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71" y="610271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297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Foundation &amp; Methodology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F4F8"/>
          </a:solidFill>
          <a:ln/>
          <a:effectLst>
            <a:outerShdw blurRad="88900" dist="25400" dir="5400000" algn="bl" rotWithShape="0">
              <a:srgbClr val="1B2447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71907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020" y="1854860"/>
            <a:ext cx="231343" cy="2313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68249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Referential Integrity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31520" y="221284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foreign-key relationships across Orders, Customers, Restaurants, and Delivery Partners — orphan records were identified and removed before analysis.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172200" y="14630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F4F8"/>
          </a:solidFill>
          <a:ln/>
          <a:effectLst>
            <a:outerShdw blurRad="88900" dist="25400" dir="5400000" algn="bl" rotWithShape="0">
              <a:srgbClr val="1B2447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28232" y="171907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020" y="1854860"/>
            <a:ext cx="231343" cy="231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168249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Cleanup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446520" y="221284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ID data types and renamed fact/dimension tables (e.g. FACT_ORDERS → ORDERS) across 7 tables for a clean, query-ready model.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37033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F4F8"/>
          </a:solidFill>
          <a:ln/>
          <a:effectLst>
            <a:outerShdw blurRad="88900" dist="25400" dir="5400000" algn="bl" rotWithShape="0">
              <a:srgbClr val="1B2447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13232" y="39593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" y="4095140"/>
            <a:ext cx="231343" cy="231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92277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731520" y="445312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was tagged Pre-Crisis, Crisis, or Recovery based on signup date, enabling cohort-level comparisons throughout.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172200" y="37033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F4F8"/>
          </a:solidFill>
          <a:ln/>
          <a:effectLst>
            <a:outerShdw blurRad="88900" dist="25400" dir="5400000" algn="bl" rotWithShape="0">
              <a:srgbClr val="1B2447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28232" y="39593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4020" y="4095140"/>
            <a:ext cx="231343" cy="23134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86600" y="392277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Phase Definition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6446520" y="445312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Pre-Crisis (Jan–May 2025) vs. Crisis (Jun–Sep 2025) windows were applied uniformly across all 10 business questions.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EDEF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71" y="610271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297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Timeline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3566160" cy="1005840"/>
          </a:xfrm>
          <a:prstGeom prst="roundRect">
            <a:avLst>
              <a:gd name="adj" fmla="val 6364"/>
            </a:avLst>
          </a:prstGeom>
          <a:solidFill>
            <a:srgbClr val="1B244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PRE-CRISIS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5786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– May 2025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48640" y="33832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ordering volume, healthy ratings, normal cancellation levels.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51293" y="2125980"/>
            <a:ext cx="3566161" cy="1001268"/>
          </a:xfrm>
          <a:prstGeom prst="roundRect">
            <a:avLst>
              <a:gd name="adj" fmla="val 6364"/>
            </a:avLst>
          </a:prstGeom>
          <a:solidFill>
            <a:srgbClr val="F4633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/>
          <p:nvPr/>
        </p:nvSpPr>
        <p:spPr>
          <a:xfrm>
            <a:off x="7534174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34174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– Sep 2025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351294" y="32461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collapse, cancellations spike, SLA breaks down, ratings crash.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29600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17054" y="259689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48640" y="51663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in this deck is compared across these two anchor windows — Pre-Crisis vs. Crisis — to isolate the true impact of whatever went wrong in June 2025.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EDEF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71" y="610271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297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Volume Collapse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17320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6720840" y="141732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3F4F8"/>
          </a:solidFill>
          <a:ln/>
          <a:effectLst>
            <a:outerShdw blurRad="101600" dist="25400" dir="5400000" algn="bl" rotWithShape="0">
              <a:srgbClr val="1B2447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858000" y="1527048"/>
            <a:ext cx="470916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46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–70%</a:t>
            </a:r>
            <a:endParaRPr lang="en-US" sz="4600" dirty="0"/>
          </a:p>
        </p:txBody>
      </p:sp>
      <p:sp>
        <p:nvSpPr>
          <p:cNvPr id="8" name="Text 4"/>
          <p:cNvSpPr/>
          <p:nvPr/>
        </p:nvSpPr>
        <p:spPr>
          <a:xfrm>
            <a:off x="6830568" y="2296058"/>
            <a:ext cx="4764024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total orders during the crisis period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720840" y="3063240"/>
            <a:ext cx="4983480" cy="2286000"/>
          </a:xfrm>
          <a:prstGeom prst="roundRect">
            <a:avLst>
              <a:gd name="adj" fmla="val 3200"/>
            </a:avLst>
          </a:prstGeom>
          <a:solidFill>
            <a:srgbClr val="F3F4F8"/>
          </a:solidFill>
          <a:ln/>
        </p:spPr>
      </p:sp>
      <p:sp>
        <p:nvSpPr>
          <p:cNvPr id="10" name="Shape 6"/>
          <p:cNvSpPr/>
          <p:nvPr/>
        </p:nvSpPr>
        <p:spPr>
          <a:xfrm>
            <a:off x="6949440" y="3246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884" y="3369564"/>
            <a:ext cx="210312" cy="2103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43800" y="32461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restaurant ever reached scale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949440" y="379476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before the crisis, no single restaurant crossed 50 pre-crisis orders — the busiest managed only 20. Order volume was spread thin across the platform, not concentrated in a few hubs, so the collapse can't be pinned on any one restaurant relationship.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EDEF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71" y="610271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297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Cross-Checking the Q3 Finding in Python</a:t>
            </a:r>
            <a:endParaRPr lang="en-US" sz="2800" dirty="0"/>
          </a:p>
        </p:txBody>
      </p:sp>
      <p:pic>
        <p:nvPicPr>
          <p:cNvPr id="5" name="Image 1" descr="/home/claude/quickbite_ppt/python_pro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5074920" cy="49127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371600"/>
            <a:ext cx="5074920" cy="4912708"/>
          </a:xfrm>
          <a:prstGeom prst="rect">
            <a:avLst/>
          </a:prstGeom>
          <a:ln w="12700">
            <a:solidFill>
              <a:srgbClr val="D8DAE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63574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cross-check on the raw fact tables — no SQL modeling or cleanup applied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852160" y="137160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finding in Q3 relies on the cleaned, referentially-validated tables built during data modeling. To make sure that finding wasn't an artifact of those cleanup choices, the same check was re-run independently in Python — directly on the raw fact_orders / fact_order_items tables, before any modeling.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852160" y="2788920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F3F4F8"/>
          </a:solidFill>
          <a:ln/>
        </p:spPr>
      </p:sp>
      <p:sp>
        <p:nvSpPr>
          <p:cNvPr id="10" name="Text 6"/>
          <p:cNvSpPr/>
          <p:nvPr/>
        </p:nvSpPr>
        <p:spPr>
          <a:xfrm>
            <a:off x="6080760" y="2788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6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16,425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726680" y="2788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order_items rows (no matching order_id) — left in, not dropped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852160" y="3721608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F3F4F8"/>
          </a:solidFill>
          <a:ln/>
        </p:spPr>
      </p:sp>
      <p:sp>
        <p:nvSpPr>
          <p:cNvPr id="13" name="Text 9"/>
          <p:cNvSpPr/>
          <p:nvPr/>
        </p:nvSpPr>
        <p:spPr>
          <a:xfrm>
            <a:off x="6080760" y="37216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6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Included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726680" y="372160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from customers missing in dim_customer — left in, not dropped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852160" y="4654296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F3F4F8"/>
          </a:solidFill>
          <a:ln/>
        </p:spPr>
      </p:sp>
      <p:sp>
        <p:nvSpPr>
          <p:cNvPr id="16" name="Text 12"/>
          <p:cNvSpPr/>
          <p:nvPr/>
        </p:nvSpPr>
        <p:spPr>
          <a:xfrm>
            <a:off x="6080760" y="465429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6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orders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726680" y="465429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busiest restaurant platform-wide, even on this unfiltered data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852160" y="5678424"/>
            <a:ext cx="5852160" cy="1051560"/>
          </a:xfrm>
          <a:prstGeom prst="roundRect">
            <a:avLst>
              <a:gd name="adj" fmla="val 6087"/>
            </a:avLst>
          </a:prstGeom>
          <a:solidFill>
            <a:srgbClr val="1B2447"/>
          </a:solidFill>
          <a:ln/>
        </p:spPr>
      </p:sp>
      <p:sp>
        <p:nvSpPr>
          <p:cNvPr id="19" name="Text 15"/>
          <p:cNvSpPr/>
          <p:nvPr/>
        </p:nvSpPr>
        <p:spPr>
          <a:xfrm>
            <a:off x="6080760" y="5678424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 the messiest, unvalidated version of the data, no restaurant comes close to the 50-order threshold used in Q3 — confirming the result independently of any SQL data-cleaning decisions.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EDEF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71" y="610271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297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Hardest-Hit Cities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63040"/>
          <a:ext cx="74066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818388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3F4F8"/>
          </a:solidFill>
          <a:ln/>
        </p:spPr>
      </p:sp>
      <p:sp>
        <p:nvSpPr>
          <p:cNvPr id="7" name="Text 3"/>
          <p:cNvSpPr/>
          <p:nvPr/>
        </p:nvSpPr>
        <p:spPr>
          <a:xfrm>
            <a:off x="8366760" y="17373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46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836676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in every top-5 city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458200" y="30632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 was remarkably uniform across Bengaluru, Mumbai, Ahmedabad, Delhi, and Pune — all clustering within a single percentage point of each other.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458200" y="4434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points to a platform-wide operational failure — not a regional or city-specific issue.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EDEF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71" y="610271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297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Cancellations Nearly Doubled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17320"/>
          <a:ext cx="74980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8229600" y="1417320"/>
            <a:ext cx="3474720" cy="4160520"/>
          </a:xfrm>
          <a:prstGeom prst="roundRect">
            <a:avLst>
              <a:gd name="adj" fmla="val 2105"/>
            </a:avLst>
          </a:prstGeom>
          <a:solidFill>
            <a:srgbClr val="F3F4F8"/>
          </a:solidFill>
          <a:ln/>
        </p:spPr>
      </p:sp>
      <p:sp>
        <p:nvSpPr>
          <p:cNvPr id="7" name="Text 3"/>
          <p:cNvSpPr/>
          <p:nvPr/>
        </p:nvSpPr>
        <p:spPr>
          <a:xfrm>
            <a:off x="8412480" y="1691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46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~2x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841248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cancellation rate in crisis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503920" y="31546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8 cities in the dataset saw cancellations roughly double — from ~3.0–3.7% pre-crisis to ~6.3–7.2% during the crisis.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503920" y="44348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and Kolkata were hit hardest; Ahmedabad and Pune fared relatively “best” — but no city was spared.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EDEF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71" y="610271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297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Promises Broke Down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3F4F8"/>
          </a:solidFill>
          <a:ln/>
          <a:effectLst>
            <a:outerShdw blurRad="101600" dist="25400" dir="5400000" algn="bl" rotWithShape="0">
              <a:srgbClr val="1B2447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618488"/>
            <a:ext cx="3246120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46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8.7x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66928" y="2585923"/>
            <a:ext cx="3300984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average delivery delay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(2.0 min → 17.6 min)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160520" y="15087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3F4F8"/>
          </a:solidFill>
          <a:ln/>
          <a:effectLst>
            <a:outerShdw blurRad="101600" dist="25400" dir="5400000" algn="bl" rotWithShape="0">
              <a:srgbClr val="1B2447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297680" y="1618488"/>
            <a:ext cx="3246120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6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-31.3 pts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270248" y="2585923"/>
            <a:ext cx="3300984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SLA compliance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(43.6% → 12.3%)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63840" y="1508760"/>
            <a:ext cx="3867912" cy="1737360"/>
          </a:xfrm>
          <a:prstGeom prst="roundRect">
            <a:avLst>
              <a:gd name="adj" fmla="val 4211"/>
            </a:avLst>
          </a:prstGeom>
          <a:solidFill>
            <a:srgbClr val="F3F4F8"/>
          </a:solidFill>
          <a:ln/>
          <a:effectLst>
            <a:outerShdw blurRad="101600" dist="25400" dir="5400000" algn="bl" rotWithShape="0">
              <a:srgbClr val="1B2447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01000" y="1618488"/>
            <a:ext cx="3593592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6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60.1 min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7973568" y="2585923"/>
            <a:ext cx="364845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actual delivery time in crisis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42.5 min expected)</a:t>
            </a:r>
            <a:endParaRPr lang="en-US" sz="115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57200" y="3520440"/>
          <a:ext cx="758952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1"/>
          <p:cNvSpPr/>
          <p:nvPr/>
        </p:nvSpPr>
        <p:spPr>
          <a:xfrm>
            <a:off x="8321040" y="3611880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times stretched past their own promised windows — the gap between actual and expected time widened dramatically, driving both the cancellation surge and the ratings collapse that follow.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EDEF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71" y="610271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297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Collapsed, Reviews Turned Negative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63040"/>
          <a:ext cx="65836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7315200" y="14630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said, in their own words: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315200" y="1965960"/>
            <a:ext cx="4434840" cy="713232"/>
          </a:xfrm>
          <a:prstGeom prst="roundRect">
            <a:avLst>
              <a:gd name="adj" fmla="val 7692"/>
            </a:avLst>
          </a:prstGeom>
          <a:solidFill>
            <a:srgbClr val="F3F4F8"/>
          </a:solidFill>
          <a:ln/>
        </p:spPr>
      </p:sp>
      <p:sp>
        <p:nvSpPr>
          <p:cNvPr id="8" name="Text 4"/>
          <p:cNvSpPr/>
          <p:nvPr/>
        </p:nvSpPr>
        <p:spPr>
          <a:xfrm>
            <a:off x="7543800" y="196596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“Stale food served”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315200" y="2834640"/>
            <a:ext cx="4434840" cy="713232"/>
          </a:xfrm>
          <a:prstGeom prst="roundRect">
            <a:avLst>
              <a:gd name="adj" fmla="val 7692"/>
            </a:avLst>
          </a:prstGeom>
          <a:solidFill>
            <a:srgbClr val="F3F4F8"/>
          </a:solidFill>
          <a:ln/>
        </p:spPr>
      </p:sp>
      <p:sp>
        <p:nvSpPr>
          <p:cNvPr id="10" name="Text 6"/>
          <p:cNvSpPr/>
          <p:nvPr/>
        </p:nvSpPr>
        <p:spPr>
          <a:xfrm>
            <a:off x="7543800" y="283464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“Very late”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0" y="3703320"/>
            <a:ext cx="4434840" cy="713232"/>
          </a:xfrm>
          <a:prstGeom prst="roundRect">
            <a:avLst>
              <a:gd name="adj" fmla="val 7692"/>
            </a:avLst>
          </a:prstGeom>
          <a:solidFill>
            <a:srgbClr val="F3F4F8"/>
          </a:solidFill>
          <a:ln/>
        </p:spPr>
      </p:sp>
      <p:sp>
        <p:nvSpPr>
          <p:cNvPr id="12" name="Text 8"/>
          <p:cNvSpPr/>
          <p:nvPr/>
        </p:nvSpPr>
        <p:spPr>
          <a:xfrm>
            <a:off x="7543800" y="370332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“Bad taste”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315200" y="4572000"/>
            <a:ext cx="4434840" cy="713232"/>
          </a:xfrm>
          <a:prstGeom prst="roundRect">
            <a:avLst>
              <a:gd name="adj" fmla="val 7692"/>
            </a:avLst>
          </a:prstGeom>
          <a:solidFill>
            <a:srgbClr val="F3F4F8"/>
          </a:solidFill>
          <a:ln/>
        </p:spPr>
      </p:sp>
      <p:sp>
        <p:nvSpPr>
          <p:cNvPr id="14" name="Text 10"/>
          <p:cNvSpPr/>
          <p:nvPr/>
        </p:nvSpPr>
        <p:spPr>
          <a:xfrm>
            <a:off x="7543800" y="457200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“Packaging issue”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fell from the mid-4s to the low-2s the moment the crisis began — and stayed there for all four crisis months, with delivery-delay and food-quality complaints replacing routine feedback.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EDEF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71" y="610271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297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Impact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63040"/>
          <a:ext cx="60350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6720840" y="146304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F3F4F8"/>
          </a:solidFill>
          <a:ln/>
          <a:effectLst>
            <a:outerShdw blurRad="101600" dist="25400" dir="5400000" algn="bl" rotWithShape="0">
              <a:srgbClr val="1B2447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858000" y="1572768"/>
            <a:ext cx="470916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6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₹2.67 Cr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6830568" y="2511857"/>
            <a:ext cx="4764024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revenue lost during the crisis window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720840" y="329184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F3F4F8"/>
          </a:solidFill>
          <a:ln/>
          <a:effectLst>
            <a:outerShdw blurRad="101600" dist="25400" dir="5400000" algn="bl" rotWithShape="0">
              <a:srgbClr val="1B2447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858000" y="3401568"/>
            <a:ext cx="470916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46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–70.9%</a:t>
            </a:r>
            <a:endParaRPr lang="en-US" sz="4200" dirty="0"/>
          </a:p>
        </p:txBody>
      </p:sp>
      <p:sp>
        <p:nvSpPr>
          <p:cNvPr id="11" name="Text 7"/>
          <p:cNvSpPr/>
          <p:nvPr/>
        </p:nvSpPr>
        <p:spPr>
          <a:xfrm>
            <a:off x="6830568" y="4340657"/>
            <a:ext cx="4764024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decline vs. the pre-crisis run-rate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using the pre-crisis revenue run-rate (subtotal + delivery fee − discounts) as the benchmark against actual crisis-period revenue.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EDEF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71" y="610271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297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Wasn't Enough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3F4F8"/>
          </a:solidFill>
          <a:ln/>
          <a:effectLst>
            <a:outerShdw blurRad="101600" dist="25400" dir="5400000" algn="bl" rotWithShape="0">
              <a:srgbClr val="1B2447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618488"/>
            <a:ext cx="3246120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66928" y="2699309"/>
            <a:ext cx="3300984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had placed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orders pre-crisis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160520" y="15087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3F4F8"/>
          </a:solidFill>
          <a:ln/>
          <a:effectLst>
            <a:outerShdw blurRad="101600" dist="25400" dir="5400000" algn="bl" rotWithShape="0">
              <a:srgbClr val="1B2447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297680" y="1618488"/>
            <a:ext cx="3246120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6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(84%)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270248" y="2699309"/>
            <a:ext cx="3300984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loyal customers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ordering in the crisis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63840" y="1508760"/>
            <a:ext cx="3867912" cy="1920240"/>
          </a:xfrm>
          <a:prstGeom prst="roundRect">
            <a:avLst>
              <a:gd name="adj" fmla="val 3810"/>
            </a:avLst>
          </a:prstGeom>
          <a:solidFill>
            <a:srgbClr val="F3F4F8"/>
          </a:solidFill>
          <a:ln/>
          <a:effectLst>
            <a:outerShdw blurRad="101600" dist="25400" dir="5400000" algn="bl" rotWithShape="0">
              <a:srgbClr val="1B2447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01000" y="1618488"/>
            <a:ext cx="3593592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AB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of 58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7973568" y="2699309"/>
            <a:ext cx="3648456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rated QuickBite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4.5+ before the crisis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703320"/>
            <a:ext cx="11274552" cy="1828800"/>
          </a:xfrm>
          <a:prstGeom prst="roundRect">
            <a:avLst>
              <a:gd name="adj" fmla="val 4000"/>
            </a:avLst>
          </a:prstGeom>
          <a:solidFill>
            <a:srgbClr val="F3F4F8"/>
          </a:solidFill>
          <a:ln/>
        </p:spPr>
      </p:sp>
      <p:sp>
        <p:nvSpPr>
          <p:cNvPr id="15" name="Shape 12"/>
          <p:cNvSpPr/>
          <p:nvPr/>
        </p:nvSpPr>
        <p:spPr>
          <a:xfrm>
            <a:off x="685800" y="3931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8" y="4067708"/>
            <a:ext cx="231343" cy="23134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71600" y="3931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 didn't prevent churn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371600" y="44348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customers who churned were already loyal and satisfied — 30 of the 58 had rated the service 4.5 or higher before the crisis. Their departure wasn't about product fit or preference; it tracks directly with the operational failures seen in delivery SLA and cancellations. Winning them back is an operations fix, not a marketing one.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EDEF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71" y="610271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297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Spenders Vanished Too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top 5% of customers by pre-crisis spend, the pattern was near-universal collapse — not a gradual pullback: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74552" cy="230428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Cuisine Pref.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(Pre-Crisis)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(Crisis)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Freq. Drop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CUST179266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Pizza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₹2,404.06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 → 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CUST125990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Biryani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₹2,403.16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→ 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CUST163628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Indian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₹2,397.58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→ 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CUST165515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Pizza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₹2,349.96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→ 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CUST041121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₹2,188.43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 → 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52628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F3F4F8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4617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drop-to-zero pattern shows up across every city and every cuisine preference — confirming, at the individual customer level, what the city and revenue data already show: this was a platform-wide breakdown, not a niche or segment-specific problem.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66928" cy="566928"/>
          </a:xfrm>
          <a:prstGeom prst="ellipse">
            <a:avLst/>
          </a:prstGeom>
          <a:solidFill>
            <a:srgbClr val="232C5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71" y="655991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7548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Recommendations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502920" cy="502920"/>
          </a:xfrm>
          <a:prstGeom prst="ellipse">
            <a:avLst/>
          </a:prstGeom>
          <a:solidFill>
            <a:srgbClr val="F4633A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34440" y="13716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delivery capacity first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234440" y="17373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(43.6% → 12.3%) is the common root cause behind the cancellation surge, the rating collapse, and much of the churn. Operational fixes will move more metrics than any marketing spend.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587752"/>
            <a:ext cx="502920" cy="502920"/>
          </a:xfrm>
          <a:prstGeom prst="ellipse">
            <a:avLst/>
          </a:prstGeom>
          <a:solidFill>
            <a:srgbClr val="F4633A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25420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 targeted win-back campaign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234440" y="290779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49 loyal, previously-satisfied customers who stopped ordering — they liked the product before things broke, so a service-recovery outreach is likely to land well.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3758184"/>
            <a:ext cx="502920" cy="502920"/>
          </a:xfrm>
          <a:prstGeom prst="ellipse">
            <a:avLst/>
          </a:prstGeom>
          <a:solidFill>
            <a:srgbClr val="F4633A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71246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food-quality &amp; safety flags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234440" y="407822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mentioning stale or cold food and food-safety concerns spiked during the crisis — these need restaurant-level follow-up, not just a delivery-time fix.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4928616"/>
            <a:ext cx="502920" cy="502920"/>
          </a:xfrm>
          <a:prstGeom prst="ellipse">
            <a:avLst/>
          </a:prstGeom>
          <a:solidFill>
            <a:srgbClr val="F4633A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928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488289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this as platform-wide, not regional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1234440" y="524865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decline was near-identical across all top cities and cuisines, fixes should be rolled out platform-wide rather than piloted city-by-city.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QuickBite Express — Business Recovery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384048" cy="384048"/>
          </a:xfrm>
          <a:prstGeom prst="ellipse">
            <a:avLst/>
          </a:prstGeom>
          <a:solidFill>
            <a:srgbClr val="232C5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653" y="3852733"/>
            <a:ext cx="176662" cy="1766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71246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5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yashrajsh1234@gmail.com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22960" y="4297680"/>
            <a:ext cx="384048" cy="384048"/>
          </a:xfrm>
          <a:prstGeom prst="ellipse">
            <a:avLst/>
          </a:prstGeom>
          <a:solidFill>
            <a:srgbClr val="232C5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653" y="4401373"/>
            <a:ext cx="176662" cy="176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426110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5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github.com/yashraj-DS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822960" y="4846320"/>
            <a:ext cx="384048" cy="384048"/>
          </a:xfrm>
          <a:prstGeom prst="ellipse">
            <a:avLst/>
          </a:prstGeom>
          <a:solidFill>
            <a:srgbClr val="232C5B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653" y="4950013"/>
            <a:ext cx="176662" cy="1766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480974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5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linkedin.com/in/yashraj-sharma-4a87ab348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822960" y="5394960"/>
            <a:ext cx="384048" cy="384048"/>
          </a:xfrm>
          <a:prstGeom prst="ellipse">
            <a:avLst/>
          </a:prstGeom>
          <a:solidFill>
            <a:srgbClr val="232C5B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653" y="5498653"/>
            <a:ext cx="176662" cy="1766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53583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5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https://yashraj-ds.github.io/yashraj_portfolio/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Yashraj Sharma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1317</Words>
  <Application>Microsoft Office PowerPoint</Application>
  <PresentationFormat>Widescreen</PresentationFormat>
  <Paragraphs>186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QuickBite Express - Business Recovery Analysis</dc:title>
  <dc:subject>PptxGenJS Presentation</dc:subject>
  <dc:creator>Yashraj Sharma</dc:creator>
  <cp:lastModifiedBy>Happy Sharma</cp:lastModifiedBy>
  <cp:revision>4</cp:revision>
  <dcterms:created xsi:type="dcterms:W3CDTF">2026-07-05T16:57:06Z</dcterms:created>
  <dcterms:modified xsi:type="dcterms:W3CDTF">2026-07-06T05:35:15Z</dcterms:modified>
</cp:coreProperties>
</file>